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sldIdLst>
    <p:sldId id="258" r:id="rId6"/>
    <p:sldId id="264" r:id="rId7"/>
    <p:sldId id="266" r:id="rId8"/>
    <p:sldId id="267" r:id="rId9"/>
    <p:sldId id="268" r:id="rId10"/>
    <p:sldId id="269" r:id="rId11"/>
    <p:sldId id="270" r:id="rId12"/>
    <p:sldId id="271" r:id="rId13"/>
    <p:sldId id="272" r:id="rId14"/>
    <p:sldId id="256" r:id="rId1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2E5A"/>
    <a:srgbClr val="F7F3F0"/>
    <a:srgbClr val="69717E"/>
    <a:srgbClr val="FFC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09" dt="2026-09-24T19:08:50.219"/>
    <p1510:client id="{1CE99135-FC50-AD59-1400-6A3B1E616281}" v="120" dt="2026-09-24T20:01:45.1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75"/>
    <p:restoredTop sz="94637"/>
  </p:normalViewPr>
  <p:slideViewPr>
    <p:cSldViewPr snapToGrid="0">
      <p:cViewPr>
        <p:scale>
          <a:sx n="91" d="100"/>
          <a:sy n="91" d="100"/>
        </p:scale>
        <p:origin x="2080" y="1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4A394-4676-0FA7-33EF-ABC9D91423C4}"/>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7EEFFA87-9130-13F8-B3BB-FAD62E40B7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B66F0E25-DDEE-26C8-7825-818AEF575927}"/>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5" name="Marcador de pie de página 4">
            <a:extLst>
              <a:ext uri="{FF2B5EF4-FFF2-40B4-BE49-F238E27FC236}">
                <a16:creationId xmlns:a16="http://schemas.microsoft.com/office/drawing/2014/main" id="{BC2F925C-336A-4BF9-6162-19902D0B8F6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F8DE62-B6DB-93D4-F0BD-E9BE36646495}"/>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1828871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9A7F0A-C808-12E8-D98C-39B1F15DCDDB}"/>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2ED8025E-4358-AB4D-E518-141994525329}"/>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7A384330-9D79-0D5A-E82F-BAE0CD14B66A}"/>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5" name="Marcador de pie de página 4">
            <a:extLst>
              <a:ext uri="{FF2B5EF4-FFF2-40B4-BE49-F238E27FC236}">
                <a16:creationId xmlns:a16="http://schemas.microsoft.com/office/drawing/2014/main" id="{6D5B1FD6-592E-26A3-5B2D-A530C7BD6CF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9D8C7D2-D103-0C4C-BE79-2E5580C0E757}"/>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3903856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5CD057-70E6-75D9-4BDB-E6A75B8B3D17}"/>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01AA45B4-1C4F-2010-5D7A-4E4B264B36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F617C3C7-DC31-CC7E-8F44-D69180736E98}"/>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5" name="Marcador de pie de página 4">
            <a:extLst>
              <a:ext uri="{FF2B5EF4-FFF2-40B4-BE49-F238E27FC236}">
                <a16:creationId xmlns:a16="http://schemas.microsoft.com/office/drawing/2014/main" id="{29FA934F-93E6-A9D5-7BF5-D5E2B982349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2BC4E9D-8AF3-D623-7553-7EDF622890AA}"/>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4219382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02F503-DD0F-0204-99B8-48D4F25EDE9F}"/>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C5FD9217-31DB-1F8E-7174-8CF56436A151}"/>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A1B50542-5EF2-1120-4B4F-2FEA472246F5}"/>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0B1068AD-A0DE-845F-1CB3-9E982C865685}"/>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6" name="Marcador de pie de página 5">
            <a:extLst>
              <a:ext uri="{FF2B5EF4-FFF2-40B4-BE49-F238E27FC236}">
                <a16:creationId xmlns:a16="http://schemas.microsoft.com/office/drawing/2014/main" id="{624957FB-18C5-2A85-433C-F5F0AEB4812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F49B2D5-CB9C-2324-30E4-7F145F7E6533}"/>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3046636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028C4C-5B95-0757-AE27-508D0E028891}"/>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6F304407-10B9-7D26-4A86-AC724C87DB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D4482FDF-8C22-E8FA-2927-7ACCA068F912}"/>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6BC1A677-4ADA-2C1A-D503-5167EAF20B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8E302C6A-3374-414C-74DE-4DE218D12B92}"/>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6B604DE2-2620-029D-B54E-8EAFEFED9D6D}"/>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8" name="Marcador de pie de página 7">
            <a:extLst>
              <a:ext uri="{FF2B5EF4-FFF2-40B4-BE49-F238E27FC236}">
                <a16:creationId xmlns:a16="http://schemas.microsoft.com/office/drawing/2014/main" id="{18F40224-8B41-252A-34F7-984BD1DE228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2E0A4859-9885-25C7-9674-64EC2C99C2F4}"/>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346000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F1AFE7-036A-FB10-38BF-7FD0E0A6C9BB}"/>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3EA97BBE-6BAE-96DB-18D3-DCC20001D898}"/>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4" name="Marcador de pie de página 3">
            <a:extLst>
              <a:ext uri="{FF2B5EF4-FFF2-40B4-BE49-F238E27FC236}">
                <a16:creationId xmlns:a16="http://schemas.microsoft.com/office/drawing/2014/main" id="{0C2ECD0A-E68A-4C11-EF15-6087F7149BA3}"/>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1525A977-69FD-D123-2BBB-8D5982D6DE64}"/>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351289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4A75FB9-B3C6-D1AA-0634-59F4753F9096}"/>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3" name="Marcador de pie de página 2">
            <a:extLst>
              <a:ext uri="{FF2B5EF4-FFF2-40B4-BE49-F238E27FC236}">
                <a16:creationId xmlns:a16="http://schemas.microsoft.com/office/drawing/2014/main" id="{940A333B-482D-499E-DB61-BF6E810988A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D48C916-87FF-65F8-D99C-F0BE61CD9BCF}"/>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1722946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29CF19-6A0B-A2D3-C088-BD746A2F4B0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1930071E-8630-6C54-3760-13CAB736D2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66273210-DD4A-58F6-87DB-7710F1327B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13D82A9E-D350-5629-E79B-72B8B1E30BB1}"/>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6" name="Marcador de pie de página 5">
            <a:extLst>
              <a:ext uri="{FF2B5EF4-FFF2-40B4-BE49-F238E27FC236}">
                <a16:creationId xmlns:a16="http://schemas.microsoft.com/office/drawing/2014/main" id="{7FD43E8B-741E-AF3B-CB3A-D6FB3AF78D5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BEBF642-CB1D-42A1-5CBC-92E5CD53B5F7}"/>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2005160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0EC687-3C4A-FBB1-7636-A8B31E9DDA13}"/>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B55C0909-8C5E-8DDD-D3B6-8CA3DBEF08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7619DEF-DF95-7F4E-A148-0EF5B7ED28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E302FE45-23AA-54EC-6ACA-33C4AD391752}"/>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6" name="Marcador de pie de página 5">
            <a:extLst>
              <a:ext uri="{FF2B5EF4-FFF2-40B4-BE49-F238E27FC236}">
                <a16:creationId xmlns:a16="http://schemas.microsoft.com/office/drawing/2014/main" id="{0D9F50A8-D08B-2EAD-840F-0FC4574A98D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BB80B7B-D127-8C5D-2E63-BC513AC78941}"/>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3746310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5F87-A2B4-822F-6BC2-8263FB4B4A27}"/>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5B371841-A0FF-23F1-4973-72880C6306D6}"/>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41D7F4FA-7D8C-FC3A-6BCA-6B841F900BFB}"/>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5" name="Marcador de pie de página 4">
            <a:extLst>
              <a:ext uri="{FF2B5EF4-FFF2-40B4-BE49-F238E27FC236}">
                <a16:creationId xmlns:a16="http://schemas.microsoft.com/office/drawing/2014/main" id="{9AAE5525-9D86-576D-0854-331F3040CF2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8667F21-754D-3CA2-8B78-D5B7E0987BC2}"/>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3124839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1D5B88F-E0F7-300A-5979-647F41AA6EFA}"/>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F74E93A0-8DA4-CAFB-36FD-18638DDFD42A}"/>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9CFC8730-3166-FE20-44D6-5E320F73DC8F}"/>
              </a:ext>
            </a:extLst>
          </p:cNvPr>
          <p:cNvSpPr>
            <a:spLocks noGrp="1"/>
          </p:cNvSpPr>
          <p:nvPr>
            <p:ph type="dt" sz="half" idx="10"/>
          </p:nvPr>
        </p:nvSpPr>
        <p:spPr/>
        <p:txBody>
          <a:bodyPr/>
          <a:lstStyle/>
          <a:p>
            <a:fld id="{B07D01F6-7FE8-E143-B75C-60CBD7B1A197}" type="datetimeFigureOut">
              <a:rPr lang="es-CO" smtClean="0"/>
              <a:t>24/09/2026</a:t>
            </a:fld>
            <a:endParaRPr lang="es-CO"/>
          </a:p>
        </p:txBody>
      </p:sp>
      <p:sp>
        <p:nvSpPr>
          <p:cNvPr id="5" name="Marcador de pie de página 4">
            <a:extLst>
              <a:ext uri="{FF2B5EF4-FFF2-40B4-BE49-F238E27FC236}">
                <a16:creationId xmlns:a16="http://schemas.microsoft.com/office/drawing/2014/main" id="{33260365-54DB-4DA9-47ED-B5372962665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B913A33-D6E1-56C4-0856-FC4491BD6DFE}"/>
              </a:ext>
            </a:extLst>
          </p:cNvPr>
          <p:cNvSpPr>
            <a:spLocks noGrp="1"/>
          </p:cNvSpPr>
          <p:nvPr>
            <p:ph type="sldNum" sz="quarter" idx="12"/>
          </p:nvPr>
        </p:nvSpPr>
        <p:spPr/>
        <p:txBody>
          <a:bodyPr/>
          <a:lstStyle/>
          <a:p>
            <a:fld id="{2388717E-061E-4F49-BC68-1A7E85B50260}" type="slidenum">
              <a:rPr lang="es-CO" smtClean="0"/>
              <a:t>‹Nº›</a:t>
            </a:fld>
            <a:endParaRPr lang="es-CO"/>
          </a:p>
        </p:txBody>
      </p:sp>
    </p:spTree>
    <p:extLst>
      <p:ext uri="{BB962C8B-B14F-4D97-AF65-F5344CB8AC3E}">
        <p14:creationId xmlns:p14="http://schemas.microsoft.com/office/powerpoint/2010/main" val="2344924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A45735D-0F89-5666-9638-4D4F49133E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6EAAD156-B426-5A63-81BC-A15491F342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ACC442CF-080A-C062-2DEA-34B474E34C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7D01F6-7FE8-E143-B75C-60CBD7B1A197}" type="datetimeFigureOut">
              <a:rPr lang="es-CO" smtClean="0"/>
              <a:t>24/09/2026</a:t>
            </a:fld>
            <a:endParaRPr lang="es-CO"/>
          </a:p>
        </p:txBody>
      </p:sp>
      <p:sp>
        <p:nvSpPr>
          <p:cNvPr id="5" name="Marcador de pie de página 4">
            <a:extLst>
              <a:ext uri="{FF2B5EF4-FFF2-40B4-BE49-F238E27FC236}">
                <a16:creationId xmlns:a16="http://schemas.microsoft.com/office/drawing/2014/main" id="{971BB9B2-3FB7-1F5F-ECEC-B6CE5ADFC5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BCA5E0D7-9035-4F89-1AC2-854DA1C6B9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88717E-061E-4F49-BC68-1A7E85B50260}" type="slidenum">
              <a:rPr lang="es-CO" smtClean="0"/>
              <a:t>‹Nº›</a:t>
            </a:fld>
            <a:endParaRPr lang="es-CO"/>
          </a:p>
        </p:txBody>
      </p:sp>
    </p:spTree>
    <p:extLst>
      <p:ext uri="{BB962C8B-B14F-4D97-AF65-F5344CB8AC3E}">
        <p14:creationId xmlns:p14="http://schemas.microsoft.com/office/powerpoint/2010/main" val="928011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E0873C19-7E16-4657-77DC-82E0D02ECFEA}"/>
              </a:ext>
            </a:extLst>
          </p:cNvPr>
          <p:cNvSpPr/>
          <p:nvPr/>
        </p:nvSpPr>
        <p:spPr>
          <a:xfrm>
            <a:off x="0" y="0"/>
            <a:ext cx="12192000" cy="6858000"/>
          </a:xfrm>
          <a:prstGeom prst="rect">
            <a:avLst/>
          </a:prstGeom>
          <a:solidFill>
            <a:srgbClr val="F7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a:extLst>
              <a:ext uri="{FF2B5EF4-FFF2-40B4-BE49-F238E27FC236}">
                <a16:creationId xmlns:a16="http://schemas.microsoft.com/office/drawing/2014/main" id="{9468026D-B9E0-658D-F4EC-404543A7BD7E}"/>
              </a:ext>
            </a:extLst>
          </p:cNvPr>
          <p:cNvPicPr>
            <a:picLocks noChangeAspect="1"/>
          </p:cNvPicPr>
          <p:nvPr/>
        </p:nvPicPr>
        <p:blipFill>
          <a:blip r:embed="rId2"/>
          <a:srcRect l="54263"/>
          <a:stretch>
            <a:fillRect/>
          </a:stretch>
        </p:blipFill>
        <p:spPr>
          <a:xfrm>
            <a:off x="-1" y="1561513"/>
            <a:ext cx="5922499" cy="4545181"/>
          </a:xfrm>
          <a:prstGeom prst="rect">
            <a:avLst/>
          </a:prstGeom>
        </p:spPr>
      </p:pic>
      <p:pic>
        <p:nvPicPr>
          <p:cNvPr id="7" name="Imagen 6">
            <a:extLst>
              <a:ext uri="{FF2B5EF4-FFF2-40B4-BE49-F238E27FC236}">
                <a16:creationId xmlns:a16="http://schemas.microsoft.com/office/drawing/2014/main" id="{249C00F7-8396-B016-3FC8-67547DF473E9}"/>
              </a:ext>
            </a:extLst>
          </p:cNvPr>
          <p:cNvPicPr>
            <a:picLocks noChangeAspect="1"/>
          </p:cNvPicPr>
          <p:nvPr/>
        </p:nvPicPr>
        <p:blipFill>
          <a:blip r:embed="rId3"/>
          <a:srcRect l="35702" t="16637" r="36606" b="15791"/>
          <a:stretch>
            <a:fillRect/>
          </a:stretch>
        </p:blipFill>
        <p:spPr>
          <a:xfrm>
            <a:off x="10739905" y="527435"/>
            <a:ext cx="753399" cy="1034078"/>
          </a:xfrm>
          <a:prstGeom prst="rect">
            <a:avLst/>
          </a:prstGeom>
        </p:spPr>
      </p:pic>
      <p:sp>
        <p:nvSpPr>
          <p:cNvPr id="8" name="CuadroTexto 7">
            <a:extLst>
              <a:ext uri="{FF2B5EF4-FFF2-40B4-BE49-F238E27FC236}">
                <a16:creationId xmlns:a16="http://schemas.microsoft.com/office/drawing/2014/main" id="{33EEB072-A64E-7EFD-13E6-0BBC5C242776}"/>
              </a:ext>
            </a:extLst>
          </p:cNvPr>
          <p:cNvSpPr txBox="1"/>
          <p:nvPr/>
        </p:nvSpPr>
        <p:spPr>
          <a:xfrm>
            <a:off x="3850124" y="2152142"/>
            <a:ext cx="7800000" cy="1200000"/>
          </a:xfrm>
          <a:prstGeom prst="rect">
            <a:avLst/>
          </a:prstGeom>
          <a:noFill/>
        </p:spPr>
        <p:txBody>
          <a:bodyPr wrap="square" rtlCol="0">
            <a:normAutofit/>
          </a:bodyPr>
          <a:lstStyle/>
          <a:p>
            <a:r>
              <a:rPr lang="es-CO" sz="3600" b="1" dirty="0">
                <a:solidFill>
                  <a:srgbClr val="2D2E5A"/>
                </a:solidFill>
              </a:rPr>
              <a:t>Documentos e insumos del chatbot SUAIA</a:t>
            </a:r>
          </a:p>
        </p:txBody>
      </p:sp>
      <p:sp>
        <p:nvSpPr>
          <p:cNvPr id="10" name="CuadroTexto 9">
            <a:extLst>
              <a:ext uri="{FF2B5EF4-FFF2-40B4-BE49-F238E27FC236}">
                <a16:creationId xmlns:a16="http://schemas.microsoft.com/office/drawing/2014/main" id="{A838C546-62E4-1766-9D60-825004029A46}"/>
              </a:ext>
            </a:extLst>
          </p:cNvPr>
          <p:cNvSpPr txBox="1"/>
          <p:nvPr/>
        </p:nvSpPr>
        <p:spPr>
          <a:xfrm>
            <a:off x="3850124" y="3400000"/>
            <a:ext cx="7800000" cy="600000"/>
          </a:xfrm>
          <a:prstGeom prst="rect">
            <a:avLst/>
          </a:prstGeom>
          <a:noFill/>
        </p:spPr>
        <p:txBody>
          <a:bodyPr wrap="square" rtlCol="0">
            <a:normAutofit/>
          </a:bodyPr>
          <a:lstStyle/>
          <a:p>
            <a:r>
              <a:rPr lang="es-CO" sz="2400" dirty="0">
                <a:solidFill>
                  <a:srgbClr val="2D2E5A"/>
                </a:solidFill>
              </a:rPr>
              <a:t>Rama PND 2026-2030 — estudio de fuentes</a:t>
            </a:r>
          </a:p>
        </p:txBody>
      </p:sp>
      <p:sp>
        <p:nvSpPr>
          <p:cNvPr id="12" name="CuadroTexto 11">
            <a:extLst>
              <a:ext uri="{FF2B5EF4-FFF2-40B4-BE49-F238E27FC236}">
                <a16:creationId xmlns:a16="http://schemas.microsoft.com/office/drawing/2014/main" id="{670C547F-6C63-CE76-5655-A2857F65391A}"/>
              </a:ext>
            </a:extLst>
          </p:cNvPr>
          <p:cNvSpPr txBox="1"/>
          <p:nvPr/>
        </p:nvSpPr>
        <p:spPr>
          <a:xfrm>
            <a:off x="6096000" y="5917748"/>
            <a:ext cx="2415213" cy="307777"/>
          </a:xfrm>
          <a:prstGeom prst="rect">
            <a:avLst/>
          </a:prstGeom>
          <a:noFill/>
        </p:spPr>
        <p:txBody>
          <a:bodyPr wrap="none" lIns="91440" tIns="45720" rIns="91440" bIns="45720" rtlCol="0" anchor="t">
            <a:spAutoFit/>
          </a:bodyPr>
          <a:lstStyle/>
          <a:p>
            <a:r>
              <a:rPr lang="es-CO" sz="1400" spc="300" dirty="0">
                <a:solidFill>
                  <a:srgbClr val="2D2E5A"/>
                </a:solidFill>
              </a:rPr>
              <a:t>septiembre de 2026</a:t>
            </a:r>
          </a:p>
        </p:txBody>
      </p:sp>
    </p:spTree>
    <p:extLst>
      <p:ext uri="{BB962C8B-B14F-4D97-AF65-F5344CB8AC3E}">
        <p14:creationId xmlns:p14="http://schemas.microsoft.com/office/powerpoint/2010/main" val="1279041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9736A5F-F51A-6B5F-434A-CBCA2F121315}"/>
              </a:ext>
            </a:extLst>
          </p:cNvPr>
          <p:cNvSpPr txBox="1"/>
          <p:nvPr/>
        </p:nvSpPr>
        <p:spPr>
          <a:xfrm>
            <a:off x="651934" y="436553"/>
            <a:ext cx="4200000" cy="646331"/>
          </a:xfrm>
          <a:prstGeom prst="rect">
            <a:avLst/>
          </a:prstGeom>
          <a:noFill/>
        </p:spPr>
        <p:txBody>
          <a:bodyPr wrap="square" rtlCol="0">
            <a:normAutofit/>
          </a:bodyPr>
          <a:lstStyle/>
          <a:p>
            <a:r>
              <a:rPr lang="es-CO" sz="3600" b="1" dirty="0">
                <a:solidFill>
                  <a:srgbClr val="2D2E5A"/>
                </a:solidFill>
              </a:rPr>
              <a:t>Fuentes externas</a:t>
            </a:r>
          </a:p>
        </p:txBody>
      </p:sp>
      <p:sp>
        <p:nvSpPr>
          <p:cNvPr id="5" name="CuadroTexto 4">
            <a:extLst>
              <a:ext uri="{FF2B5EF4-FFF2-40B4-BE49-F238E27FC236}">
                <a16:creationId xmlns:a16="http://schemas.microsoft.com/office/drawing/2014/main" id="{C93D2111-2B83-4457-AC22-FBB254429B37}"/>
              </a:ext>
            </a:extLst>
          </p:cNvPr>
          <p:cNvSpPr txBox="1"/>
          <p:nvPr/>
        </p:nvSpPr>
        <p:spPr>
          <a:xfrm>
            <a:off x="651934" y="1021328"/>
            <a:ext cx="6500000" cy="338554"/>
          </a:xfrm>
          <a:prstGeom prst="rect">
            <a:avLst/>
          </a:prstGeom>
          <a:noFill/>
        </p:spPr>
        <p:txBody>
          <a:bodyPr wrap="square" rtlCol="0">
            <a:normAutofit/>
          </a:bodyPr>
          <a:lstStyle/>
          <a:p>
            <a:r>
              <a:rPr lang="es-CO" sz="1600" dirty="0">
                <a:solidFill>
                  <a:srgbClr val="2D2E5A"/>
                </a:solidFill>
              </a:rPr>
              <a:t>Links y normas usadas como respaldo del bot</a:t>
            </a:r>
          </a:p>
        </p:txBody>
      </p:sp>
      <p:pic>
        <p:nvPicPr>
          <p:cNvPr id="6" name="Imagen 5">
            <a:extLst>
              <a:ext uri="{FF2B5EF4-FFF2-40B4-BE49-F238E27FC236}">
                <a16:creationId xmlns:a16="http://schemas.microsoft.com/office/drawing/2014/main" id="{FD0A36CA-581E-F44D-FB6B-F2303E19FED3}"/>
              </a:ext>
            </a:extLst>
          </p:cNvPr>
          <p:cNvPicPr>
            <a:picLocks noChangeAspect="1"/>
          </p:cNvPicPr>
          <p:nvPr/>
        </p:nvPicPr>
        <p:blipFill>
          <a:blip r:embed="rId2"/>
          <a:srcRect l="35702" t="16637" r="36606" b="15791"/>
          <a:stretch>
            <a:fillRect/>
          </a:stretch>
        </p:blipFill>
        <p:spPr>
          <a:xfrm>
            <a:off x="11289991" y="436553"/>
            <a:ext cx="500147" cy="686477"/>
          </a:xfrm>
          <a:prstGeom prst="rect">
            <a:avLst/>
          </a:prstGeom>
        </p:spPr>
      </p:pic>
      <p:pic>
        <p:nvPicPr>
          <p:cNvPr id="7" name="Imagen 6">
            <a:extLst>
              <a:ext uri="{FF2B5EF4-FFF2-40B4-BE49-F238E27FC236}">
                <a16:creationId xmlns:a16="http://schemas.microsoft.com/office/drawing/2014/main" id="{F8E1F607-8A8D-7001-6AEE-528D53879697}"/>
              </a:ext>
            </a:extLst>
          </p:cNvPr>
          <p:cNvPicPr>
            <a:picLocks noChangeAspect="1"/>
          </p:cNvPicPr>
          <p:nvPr/>
        </p:nvPicPr>
        <p:blipFill>
          <a:blip r:embed="rId3"/>
          <a:stretch>
            <a:fillRect/>
          </a:stretch>
        </p:blipFill>
        <p:spPr>
          <a:xfrm>
            <a:off x="743764" y="1345814"/>
            <a:ext cx="1201108" cy="142688"/>
          </a:xfrm>
          <a:prstGeom prst="rect">
            <a:avLst/>
          </a:prstGeom>
        </p:spPr>
      </p:pic>
      <p:graphicFrame>
        <p:nvGraphicFramePr>
          <p:cNvPr id="3" name="Tabla 2">
            <a:extLst>
              <a:ext uri="{FF2B5EF4-FFF2-40B4-BE49-F238E27FC236}">
                <a16:creationId xmlns:a16="http://schemas.microsoft.com/office/drawing/2014/main" id="{CE920DD5-0F4A-0281-C34E-D9B5B2C912D2}"/>
              </a:ext>
            </a:extLst>
          </p:cNvPr>
          <p:cNvGraphicFramePr>
            <a:graphicFrameLocks noGrp="1"/>
          </p:cNvGraphicFramePr>
          <p:nvPr>
            <p:extLst>
              <p:ext uri="{D42A27DB-BD31-4B8C-83A1-F6EECF244321}">
                <p14:modId xmlns:p14="http://schemas.microsoft.com/office/powerpoint/2010/main" val="1426925825"/>
              </p:ext>
            </p:extLst>
          </p:nvPr>
        </p:nvGraphicFramePr>
        <p:xfrm>
          <a:off x="1107440" y="1635760"/>
          <a:ext cx="8923326" cy="4838120"/>
        </p:xfrm>
        <a:graphic>
          <a:graphicData uri="http://schemas.openxmlformats.org/drawingml/2006/table">
            <a:tbl>
              <a:tblPr bandRow="1">
                <a:tableStyleId>{5C22544A-7EE6-4342-B048-85BDC9FD1C3A}</a:tableStyleId>
              </a:tblPr>
              <a:tblGrid>
                <a:gridCol w="4461663">
                  <a:extLst>
                    <a:ext uri="{9D8B030D-6E8A-4147-A177-3AD203B41FA5}">
                      <a16:colId xmlns:a16="http://schemas.microsoft.com/office/drawing/2014/main" val="1187385759"/>
                    </a:ext>
                  </a:extLst>
                </a:gridCol>
                <a:gridCol w="4461663">
                  <a:extLst>
                    <a:ext uri="{9D8B030D-6E8A-4147-A177-3AD203B41FA5}">
                      <a16:colId xmlns:a16="http://schemas.microsoft.com/office/drawing/2014/main" val="3295447068"/>
                    </a:ext>
                  </a:extLst>
                </a:gridCol>
              </a:tblGrid>
              <a:tr h="229713">
                <a:tc>
                  <a:txBody>
                    <a:bodyPr/>
                    <a:lstStyle/>
                    <a:p>
                      <a:pPr>
                        <a:buNone/>
                      </a:pPr>
                      <a:r>
                        <a:rPr lang="es-ES" sz="1000" dirty="0"/>
                        <a:t>Fuente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ED7D31"/>
                    </a:solidFill>
                  </a:tcPr>
                </a:tc>
                <a:tc>
                  <a:txBody>
                    <a:bodyPr/>
                    <a:lstStyle/>
                    <a:p>
                      <a:pPr>
                        <a:buNone/>
                      </a:pPr>
                      <a:r>
                        <a:rPr lang="es-ES" sz="1000" dirty="0"/>
                        <a:t>Por qué se usa</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ED7D31"/>
                    </a:solidFill>
                  </a:tcPr>
                </a:tc>
                <a:extLst>
                  <a:ext uri="{0D108BD9-81ED-4DB2-BD59-A6C34878D82A}">
                    <a16:rowId xmlns:a16="http://schemas.microsoft.com/office/drawing/2014/main" val="1863887904"/>
                  </a:ext>
                </a:extLst>
              </a:tr>
              <a:tr h="574285">
                <a:tc>
                  <a:txBody>
                    <a:bodyPr/>
                    <a:lstStyle/>
                    <a:p>
                      <a:pPr>
                        <a:buNone/>
                      </a:pPr>
                      <a:r>
                        <a:rPr lang="es-ES" sz="1000" dirty="0"/>
                        <a:t>Constitución — Título XII, Cap. 2 (arts. 339-344)</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s-ES" sz="1000" dirty="0"/>
                        <a:t>Es el fundamento constitucional del PND: qué es, cómo se elabora y el derecho a participar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36701758"/>
                  </a:ext>
                </a:extLst>
              </a:tr>
              <a:tr h="574285">
                <a:tc>
                  <a:txBody>
                    <a:bodyPr/>
                    <a:lstStyle/>
                    <a:p>
                      <a:pPr>
                        <a:buNone/>
                      </a:pPr>
                      <a:r>
                        <a:rPr lang="es-ES" sz="1000" dirty="0"/>
                        <a:t>Ley 152 de 1994</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s-ES" sz="1000" dirty="0"/>
                        <a:t>Ley orgánica del Plan de Desarrollo; regula su formulación, aprobación y plazos legales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95449332"/>
                  </a:ext>
                </a:extLst>
              </a:tr>
              <a:tr h="574285">
                <a:tc>
                  <a:txBody>
                    <a:bodyPr/>
                    <a:lstStyle/>
                    <a:p>
                      <a:pPr>
                        <a:buNone/>
                      </a:pPr>
                      <a:r>
                        <a:rPr lang="es-ES" sz="1000" dirty="0"/>
                        <a:t>Ley 1757 de 2015</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s-ES" sz="1000" dirty="0"/>
                        <a:t>Establece el derecho de la ciudadanía a participar y a conocer las audiencias públicas del Plan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657567776"/>
                  </a:ext>
                </a:extLst>
              </a:tr>
              <a:tr h="574285">
                <a:tc>
                  <a:txBody>
                    <a:bodyPr/>
                    <a:lstStyle/>
                    <a:p>
                      <a:pPr>
                        <a:buNone/>
                      </a:pPr>
                      <a:r>
                        <a:rPr lang="es-ES" sz="1000" dirty="0"/>
                        <a:t>Ley 1909 de 2018 (Estatuto de la Oposición)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s-ES" sz="1000" dirty="0"/>
                        <a:t>Su artículo 22 obliga a publicar el Plan Plurianual de Inversiones y a hacer audiencias públicas de priorización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108097360"/>
                  </a:ext>
                </a:extLst>
              </a:tr>
              <a:tr h="574285">
                <a:tc>
                  <a:txBody>
                    <a:bodyPr/>
                    <a:lstStyle/>
                    <a:p>
                      <a:pPr>
                        <a:buNone/>
                      </a:pPr>
                      <a:r>
                        <a:rPr lang="es-ES" sz="1000" dirty="0"/>
                        <a:t>Portal oficial PND — DNP</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s-ES" sz="1000" dirty="0"/>
                        <a:t>Es la página institucional donde el DNP explica qué es el Plan Nacional de Desarrollo</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804855647"/>
                  </a:ext>
                </a:extLst>
              </a:tr>
              <a:tr h="574285">
                <a:tc>
                  <a:txBody>
                    <a:bodyPr/>
                    <a:lstStyle/>
                    <a:p>
                      <a:pPr>
                        <a:buNone/>
                      </a:pPr>
                      <a:r>
                        <a:rPr lang="es-ES" sz="1000" dirty="0"/>
                        <a:t>Ruta oficial PND 2026-2030 — DNP</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s-ES" sz="1000" dirty="0"/>
                        <a:t>Trae el cronograma oficial, la mesa campesina y los Diálogos Regionales Vinculantes de este ciclo</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537421111"/>
                  </a:ext>
                </a:extLst>
              </a:tr>
              <a:tr h="574285">
                <a:tc>
                  <a:txBody>
                    <a:bodyPr/>
                    <a:lstStyle/>
                    <a:p>
                      <a:pPr>
                        <a:buNone/>
                      </a:pPr>
                      <a:r>
                        <a:rPr lang="es-ES" sz="1000" dirty="0"/>
                        <a:t>Guía metodológica para Consulta Previa del PND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s-ES" sz="1000" dirty="0"/>
                        <a:t>Es la metodología oficial para la Consulta Previa, Libre e Informada del PND 2026-2030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780076639"/>
                  </a:ext>
                </a:extLst>
              </a:tr>
              <a:tr h="574285">
                <a:tc>
                  <a:txBody>
                    <a:bodyPr/>
                    <a:lstStyle/>
                    <a:p>
                      <a:pPr>
                        <a:buNone/>
                      </a:pPr>
                      <a:r>
                        <a:rPr lang="es-ES" sz="1000" dirty="0"/>
                        <a:t>Participación Ciudadana — DNP</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s-ES" sz="1000" dirty="0"/>
                        <a:t>Describe los mecanismos de participación, en especial las mesas departamentales y regionales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209912266"/>
                  </a:ext>
                </a:extLst>
              </a:tr>
            </a:tbl>
          </a:graphicData>
        </a:graphic>
      </p:graphicFrame>
    </p:spTree>
    <p:extLst>
      <p:ext uri="{BB962C8B-B14F-4D97-AF65-F5344CB8AC3E}">
        <p14:creationId xmlns:p14="http://schemas.microsoft.com/office/powerpoint/2010/main" val="2024364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AD53513A-AC5A-1BC0-2709-8ECE551EABD4}"/>
              </a:ext>
            </a:extLst>
          </p:cNvPr>
          <p:cNvSpPr/>
          <p:nvPr/>
        </p:nvSpPr>
        <p:spPr>
          <a:xfrm>
            <a:off x="0" y="0"/>
            <a:ext cx="12192000" cy="6858000"/>
          </a:xfrm>
          <a:prstGeom prst="rect">
            <a:avLst/>
          </a:prstGeom>
          <a:solidFill>
            <a:srgbClr val="F7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8" name="Imagen 7">
            <a:extLst>
              <a:ext uri="{FF2B5EF4-FFF2-40B4-BE49-F238E27FC236}">
                <a16:creationId xmlns:a16="http://schemas.microsoft.com/office/drawing/2014/main" id="{3D99633F-329E-DE22-E637-0806CD61AE29}"/>
              </a:ext>
            </a:extLst>
          </p:cNvPr>
          <p:cNvPicPr>
            <a:picLocks noChangeAspect="1"/>
          </p:cNvPicPr>
          <p:nvPr/>
        </p:nvPicPr>
        <p:blipFill>
          <a:blip r:embed="rId2"/>
          <a:srcRect b="42666"/>
          <a:stretch>
            <a:fillRect/>
          </a:stretch>
        </p:blipFill>
        <p:spPr>
          <a:xfrm>
            <a:off x="5163246" y="6365853"/>
            <a:ext cx="7225701" cy="492148"/>
          </a:xfrm>
          <a:prstGeom prst="rect">
            <a:avLst/>
          </a:prstGeom>
        </p:spPr>
      </p:pic>
      <p:sp>
        <p:nvSpPr>
          <p:cNvPr id="9" name="CuadroTexto 8">
            <a:extLst>
              <a:ext uri="{FF2B5EF4-FFF2-40B4-BE49-F238E27FC236}">
                <a16:creationId xmlns:a16="http://schemas.microsoft.com/office/drawing/2014/main" id="{517504D4-D8A4-3AD6-BC25-76345772177A}"/>
              </a:ext>
            </a:extLst>
          </p:cNvPr>
          <p:cNvSpPr txBox="1"/>
          <p:nvPr/>
        </p:nvSpPr>
        <p:spPr>
          <a:xfrm>
            <a:off x="7181813" y="2000000"/>
            <a:ext cx="4460000" cy="1000000"/>
          </a:xfrm>
          <a:prstGeom prst="rect">
            <a:avLst/>
          </a:prstGeom>
          <a:noFill/>
        </p:spPr>
        <p:txBody>
          <a:bodyPr wrap="square" rtlCol="0">
            <a:normAutofit fontScale="90000"/>
          </a:bodyPr>
          <a:lstStyle/>
          <a:p>
            <a:r>
              <a:rPr lang="es-CO" sz="2600" b="1" dirty="0">
                <a:solidFill>
                  <a:srgbClr val="2D2E5A"/>
                </a:solidFill>
              </a:rPr>
              <a:t>Circular 0027-4</a:t>
            </a:r>
          </a:p>
        </p:txBody>
      </p:sp>
      <p:sp>
        <p:nvSpPr>
          <p:cNvPr id="10" name="CuadroTexto 9">
            <a:extLst>
              <a:ext uri="{FF2B5EF4-FFF2-40B4-BE49-F238E27FC236}">
                <a16:creationId xmlns:a16="http://schemas.microsoft.com/office/drawing/2014/main" id="{9A0D0726-058A-39F6-5E1E-A9CE2867A623}"/>
              </a:ext>
            </a:extLst>
          </p:cNvPr>
          <p:cNvSpPr txBox="1"/>
          <p:nvPr/>
        </p:nvSpPr>
        <p:spPr>
          <a:xfrm>
            <a:off x="7181813" y="3120000"/>
            <a:ext cx="3200000" cy="450000"/>
          </a:xfrm>
          <a:prstGeom prst="rect">
            <a:avLst/>
          </a:prstGeom>
          <a:noFill/>
        </p:spPr>
        <p:txBody>
          <a:bodyPr wrap="square" lIns="91440" tIns="45720" rIns="91440" bIns="45720" rtlCol="0" anchor="t">
            <a:normAutofit/>
          </a:bodyPr>
          <a:lstStyle/>
          <a:p>
            <a:r>
              <a:rPr lang="es-CO" sz="2000" b="1" dirty="0">
                <a:solidFill>
                  <a:srgbClr val="1B7A3D"/>
                </a:solidFill>
              </a:rPr>
              <a:t>Sí se usa</a:t>
            </a:r>
          </a:p>
        </p:txBody>
      </p:sp>
      <p:sp>
        <p:nvSpPr>
          <p:cNvPr id="11" name="CuadroTexto 10">
            <a:extLst>
              <a:ext uri="{FF2B5EF4-FFF2-40B4-BE49-F238E27FC236}">
                <a16:creationId xmlns:a16="http://schemas.microsoft.com/office/drawing/2014/main" id="{83432B55-5D87-910C-4C54-C30E0E803F70}"/>
              </a:ext>
            </a:extLst>
          </p:cNvPr>
          <p:cNvSpPr txBox="1"/>
          <p:nvPr/>
        </p:nvSpPr>
        <p:spPr>
          <a:xfrm>
            <a:off x="7181813" y="3700000"/>
            <a:ext cx="4460000" cy="2400000"/>
          </a:xfrm>
          <a:prstGeom prst="rect">
            <a:avLst/>
          </a:prstGeom>
          <a:noFill/>
        </p:spPr>
        <p:txBody>
          <a:bodyPr wrap="square" lIns="91440" tIns="45720" rIns="91440" bIns="45720" rtlCol="0" anchor="t">
            <a:normAutofit/>
          </a:bodyPr>
          <a:lstStyle/>
          <a:p>
            <a:r>
              <a:rPr lang="es-CO" sz="1500" dirty="0">
                <a:solidFill>
                  <a:srgbClr val="2D2E5A"/>
                </a:solidFill>
              </a:rPr>
              <a:t>Trae el cronograma oficial y la integración del catálogo de MGA con el PND. Se usa solo la parte pública.</a:t>
            </a:r>
          </a:p>
        </p:txBody>
      </p:sp>
      <p:pic>
        <p:nvPicPr>
          <p:cNvPr id="12" name="Imagen 11">
            <a:extLst>
              <a:ext uri="{FF2B5EF4-FFF2-40B4-BE49-F238E27FC236}">
                <a16:creationId xmlns:a16="http://schemas.microsoft.com/office/drawing/2014/main" id="{6CF3A871-D3A3-8704-F116-F4617E641978}"/>
              </a:ext>
            </a:extLst>
          </p:cNvPr>
          <p:cNvPicPr>
            <a:picLocks noChangeAspect="1"/>
          </p:cNvPicPr>
          <p:nvPr/>
        </p:nvPicPr>
        <p:blipFill>
          <a:blip r:embed="rId3"/>
          <a:srcRect l="35702" t="16637" r="36606" b="15791"/>
          <a:stretch>
            <a:fillRect/>
          </a:stretch>
        </p:blipFill>
        <p:spPr>
          <a:xfrm>
            <a:off x="908137" y="579615"/>
            <a:ext cx="809695" cy="1111347"/>
          </a:xfrm>
          <a:prstGeom prst="rect">
            <a:avLst/>
          </a:prstGeom>
        </p:spPr>
      </p:pic>
      <p:pic>
        <p:nvPicPr>
          <p:cNvPr id="2" name="Imagen 1">
            <a:extLst>
              <a:ext uri="{FF2B5EF4-FFF2-40B4-BE49-F238E27FC236}">
                <a16:creationId xmlns:a16="http://schemas.microsoft.com/office/drawing/2014/main" id="{7AFB90E3-1C3E-F94F-6D23-9D19A50B71F8}"/>
              </a:ext>
            </a:extLst>
          </p:cNvPr>
          <p:cNvPicPr>
            <a:picLocks noChangeAspect="1"/>
          </p:cNvPicPr>
          <p:nvPr/>
        </p:nvPicPr>
        <p:blipFill>
          <a:blip r:embed="rId4"/>
          <a:stretch>
            <a:fillRect/>
          </a:stretch>
        </p:blipFill>
        <p:spPr>
          <a:xfrm>
            <a:off x="2535272" y="995680"/>
            <a:ext cx="3809295" cy="4866640"/>
          </a:xfrm>
          <a:prstGeom prst="rect">
            <a:avLst/>
          </a:prstGeom>
        </p:spPr>
      </p:pic>
    </p:spTree>
    <p:extLst>
      <p:ext uri="{BB962C8B-B14F-4D97-AF65-F5344CB8AC3E}">
        <p14:creationId xmlns:p14="http://schemas.microsoft.com/office/powerpoint/2010/main" val="484881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AD53513A-AC5A-1BC0-2709-8ECE551EABD4}"/>
              </a:ext>
            </a:extLst>
          </p:cNvPr>
          <p:cNvSpPr/>
          <p:nvPr/>
        </p:nvSpPr>
        <p:spPr>
          <a:xfrm>
            <a:off x="0" y="0"/>
            <a:ext cx="12192000" cy="6858000"/>
          </a:xfrm>
          <a:prstGeom prst="rect">
            <a:avLst/>
          </a:prstGeom>
          <a:solidFill>
            <a:srgbClr val="F7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8" name="Imagen 7">
            <a:extLst>
              <a:ext uri="{FF2B5EF4-FFF2-40B4-BE49-F238E27FC236}">
                <a16:creationId xmlns:a16="http://schemas.microsoft.com/office/drawing/2014/main" id="{3D99633F-329E-DE22-E637-0806CD61AE29}"/>
              </a:ext>
            </a:extLst>
          </p:cNvPr>
          <p:cNvPicPr>
            <a:picLocks noChangeAspect="1"/>
          </p:cNvPicPr>
          <p:nvPr/>
        </p:nvPicPr>
        <p:blipFill>
          <a:blip r:embed="rId2"/>
          <a:srcRect b="42666"/>
          <a:stretch>
            <a:fillRect/>
          </a:stretch>
        </p:blipFill>
        <p:spPr>
          <a:xfrm>
            <a:off x="5163246" y="6365853"/>
            <a:ext cx="7225701" cy="492148"/>
          </a:xfrm>
          <a:prstGeom prst="rect">
            <a:avLst/>
          </a:prstGeom>
        </p:spPr>
      </p:pic>
      <p:sp>
        <p:nvSpPr>
          <p:cNvPr id="9" name="CuadroTexto 8">
            <a:extLst>
              <a:ext uri="{FF2B5EF4-FFF2-40B4-BE49-F238E27FC236}">
                <a16:creationId xmlns:a16="http://schemas.microsoft.com/office/drawing/2014/main" id="{517504D4-D8A4-3AD6-BC25-76345772177A}"/>
              </a:ext>
            </a:extLst>
          </p:cNvPr>
          <p:cNvSpPr txBox="1"/>
          <p:nvPr/>
        </p:nvSpPr>
        <p:spPr>
          <a:xfrm>
            <a:off x="7181813" y="2000000"/>
            <a:ext cx="4460000" cy="1000000"/>
          </a:xfrm>
          <a:prstGeom prst="rect">
            <a:avLst/>
          </a:prstGeom>
          <a:noFill/>
        </p:spPr>
        <p:txBody>
          <a:bodyPr wrap="square" rtlCol="0">
            <a:normAutofit fontScale="90000"/>
          </a:bodyPr>
          <a:lstStyle/>
          <a:p>
            <a:r>
              <a:rPr lang="es-CO" sz="2600" b="1" dirty="0">
                <a:solidFill>
                  <a:srgbClr val="2D2E5A"/>
                </a:solidFill>
              </a:rPr>
              <a:t>Plan Nacional de Desarrollo</a:t>
            </a:r>
          </a:p>
        </p:txBody>
      </p:sp>
      <p:sp>
        <p:nvSpPr>
          <p:cNvPr id="10" name="CuadroTexto 9">
            <a:extLst>
              <a:ext uri="{FF2B5EF4-FFF2-40B4-BE49-F238E27FC236}">
                <a16:creationId xmlns:a16="http://schemas.microsoft.com/office/drawing/2014/main" id="{9A0D0726-058A-39F6-5E1E-A9CE2867A623}"/>
              </a:ext>
            </a:extLst>
          </p:cNvPr>
          <p:cNvSpPr txBox="1"/>
          <p:nvPr/>
        </p:nvSpPr>
        <p:spPr>
          <a:xfrm>
            <a:off x="7181813" y="3120000"/>
            <a:ext cx="3200000" cy="450000"/>
          </a:xfrm>
          <a:prstGeom prst="rect">
            <a:avLst/>
          </a:prstGeom>
          <a:noFill/>
        </p:spPr>
        <p:txBody>
          <a:bodyPr wrap="square" rtlCol="0">
            <a:normAutofit/>
          </a:bodyPr>
          <a:lstStyle/>
          <a:p>
            <a:r>
              <a:rPr lang="es-CO" sz="2000" b="1" dirty="0">
                <a:solidFill>
                  <a:srgbClr val="1B7A3D"/>
                </a:solidFill>
              </a:rPr>
              <a:t>Sí se usa</a:t>
            </a:r>
          </a:p>
        </p:txBody>
      </p:sp>
      <p:sp>
        <p:nvSpPr>
          <p:cNvPr id="11" name="CuadroTexto 10">
            <a:extLst>
              <a:ext uri="{FF2B5EF4-FFF2-40B4-BE49-F238E27FC236}">
                <a16:creationId xmlns:a16="http://schemas.microsoft.com/office/drawing/2014/main" id="{83432B55-5D87-910C-4C54-C30E0E803F70}"/>
              </a:ext>
            </a:extLst>
          </p:cNvPr>
          <p:cNvSpPr txBox="1"/>
          <p:nvPr/>
        </p:nvSpPr>
        <p:spPr>
          <a:xfrm>
            <a:off x="7181813" y="3700000"/>
            <a:ext cx="4460000" cy="2400000"/>
          </a:xfrm>
          <a:prstGeom prst="rect">
            <a:avLst/>
          </a:prstGeom>
          <a:noFill/>
        </p:spPr>
        <p:txBody>
          <a:bodyPr wrap="square" rtlCol="0">
            <a:normAutofit/>
          </a:bodyPr>
          <a:lstStyle/>
          <a:p>
            <a:r>
              <a:rPr lang="es-CO" sz="1500" dirty="0">
                <a:solidFill>
                  <a:srgbClr val="2D2E5A"/>
                </a:solidFill>
              </a:rPr>
              <a:t>Concepto jurídico unificado de la Oficina Asesora Jurídica del DNP. Es el respaldo legal de las respuestas sobre qué es el PND y su naturaleza jurídica.</a:t>
            </a:r>
          </a:p>
        </p:txBody>
      </p:sp>
      <p:pic>
        <p:nvPicPr>
          <p:cNvPr id="12" name="Imagen 11">
            <a:extLst>
              <a:ext uri="{FF2B5EF4-FFF2-40B4-BE49-F238E27FC236}">
                <a16:creationId xmlns:a16="http://schemas.microsoft.com/office/drawing/2014/main" id="{6CF3A871-D3A3-8704-F116-F4617E641978}"/>
              </a:ext>
            </a:extLst>
          </p:cNvPr>
          <p:cNvPicPr>
            <a:picLocks noChangeAspect="1"/>
          </p:cNvPicPr>
          <p:nvPr/>
        </p:nvPicPr>
        <p:blipFill>
          <a:blip r:embed="rId3"/>
          <a:srcRect l="35702" t="16637" r="36606" b="15791"/>
          <a:stretch>
            <a:fillRect/>
          </a:stretch>
        </p:blipFill>
        <p:spPr>
          <a:xfrm>
            <a:off x="908137" y="579615"/>
            <a:ext cx="809695" cy="1111347"/>
          </a:xfrm>
          <a:prstGeom prst="rect">
            <a:avLst/>
          </a:prstGeom>
        </p:spPr>
      </p:pic>
      <p:pic>
        <p:nvPicPr>
          <p:cNvPr id="2" name="Imagen 1">
            <a:extLst>
              <a:ext uri="{FF2B5EF4-FFF2-40B4-BE49-F238E27FC236}">
                <a16:creationId xmlns:a16="http://schemas.microsoft.com/office/drawing/2014/main" id="{412FC371-38C7-08A9-2626-3EE5DD6A9250}"/>
              </a:ext>
            </a:extLst>
          </p:cNvPr>
          <p:cNvPicPr>
            <a:picLocks noChangeAspect="1"/>
          </p:cNvPicPr>
          <p:nvPr/>
        </p:nvPicPr>
        <p:blipFill>
          <a:blip r:embed="rId4"/>
          <a:stretch>
            <a:fillRect/>
          </a:stretch>
        </p:blipFill>
        <p:spPr>
          <a:xfrm>
            <a:off x="2311698" y="1432560"/>
            <a:ext cx="3789083" cy="4267200"/>
          </a:xfrm>
          <a:prstGeom prst="rect">
            <a:avLst/>
          </a:prstGeom>
        </p:spPr>
      </p:pic>
    </p:spTree>
    <p:extLst>
      <p:ext uri="{BB962C8B-B14F-4D97-AF65-F5344CB8AC3E}">
        <p14:creationId xmlns:p14="http://schemas.microsoft.com/office/powerpoint/2010/main" val="484881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AD53513A-AC5A-1BC0-2709-8ECE551EABD4}"/>
              </a:ext>
            </a:extLst>
          </p:cNvPr>
          <p:cNvSpPr/>
          <p:nvPr/>
        </p:nvSpPr>
        <p:spPr>
          <a:xfrm>
            <a:off x="0" y="0"/>
            <a:ext cx="12192000" cy="6858000"/>
          </a:xfrm>
          <a:prstGeom prst="rect">
            <a:avLst/>
          </a:prstGeom>
          <a:solidFill>
            <a:srgbClr val="F7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8" name="Imagen 7">
            <a:extLst>
              <a:ext uri="{FF2B5EF4-FFF2-40B4-BE49-F238E27FC236}">
                <a16:creationId xmlns:a16="http://schemas.microsoft.com/office/drawing/2014/main" id="{3D99633F-329E-DE22-E637-0806CD61AE29}"/>
              </a:ext>
            </a:extLst>
          </p:cNvPr>
          <p:cNvPicPr>
            <a:picLocks noChangeAspect="1"/>
          </p:cNvPicPr>
          <p:nvPr/>
        </p:nvPicPr>
        <p:blipFill>
          <a:blip r:embed="rId2"/>
          <a:srcRect b="42666"/>
          <a:stretch>
            <a:fillRect/>
          </a:stretch>
        </p:blipFill>
        <p:spPr>
          <a:xfrm>
            <a:off x="5163246" y="6365853"/>
            <a:ext cx="7225701" cy="492148"/>
          </a:xfrm>
          <a:prstGeom prst="rect">
            <a:avLst/>
          </a:prstGeom>
        </p:spPr>
      </p:pic>
      <p:sp>
        <p:nvSpPr>
          <p:cNvPr id="9" name="CuadroTexto 8">
            <a:extLst>
              <a:ext uri="{FF2B5EF4-FFF2-40B4-BE49-F238E27FC236}">
                <a16:creationId xmlns:a16="http://schemas.microsoft.com/office/drawing/2014/main" id="{517504D4-D8A4-3AD6-BC25-76345772177A}"/>
              </a:ext>
            </a:extLst>
          </p:cNvPr>
          <p:cNvSpPr txBox="1"/>
          <p:nvPr/>
        </p:nvSpPr>
        <p:spPr>
          <a:xfrm>
            <a:off x="7181813" y="2000000"/>
            <a:ext cx="4460000" cy="1000000"/>
          </a:xfrm>
          <a:prstGeom prst="rect">
            <a:avLst/>
          </a:prstGeom>
          <a:noFill/>
        </p:spPr>
        <p:txBody>
          <a:bodyPr wrap="square" rtlCol="0">
            <a:normAutofit fontScale="90000"/>
          </a:bodyPr>
          <a:lstStyle/>
          <a:p>
            <a:r>
              <a:rPr lang="es-CO" sz="2600" b="1" dirty="0">
                <a:solidFill>
                  <a:srgbClr val="2D2E5A"/>
                </a:solidFill>
              </a:rPr>
              <a:t>PND 2026-2030: sesión con enlaces de sectores responsables</a:t>
            </a:r>
          </a:p>
        </p:txBody>
      </p:sp>
      <p:sp>
        <p:nvSpPr>
          <p:cNvPr id="11" name="CuadroTexto 10">
            <a:extLst>
              <a:ext uri="{FF2B5EF4-FFF2-40B4-BE49-F238E27FC236}">
                <a16:creationId xmlns:a16="http://schemas.microsoft.com/office/drawing/2014/main" id="{83432B55-5D87-910C-4C54-C30E0E803F70}"/>
              </a:ext>
            </a:extLst>
          </p:cNvPr>
          <p:cNvSpPr txBox="1"/>
          <p:nvPr/>
        </p:nvSpPr>
        <p:spPr>
          <a:xfrm>
            <a:off x="7181813" y="3700000"/>
            <a:ext cx="4460000" cy="2400000"/>
          </a:xfrm>
          <a:prstGeom prst="rect">
            <a:avLst/>
          </a:prstGeom>
          <a:noFill/>
        </p:spPr>
        <p:txBody>
          <a:bodyPr wrap="square" lIns="91440" tIns="45720" rIns="91440" bIns="45720" rtlCol="0" anchor="t">
            <a:normAutofit/>
          </a:bodyPr>
          <a:lstStyle/>
          <a:p>
            <a:r>
              <a:rPr lang="es-CO" sz="1500" dirty="0">
                <a:solidFill>
                  <a:srgbClr val="2D2E5A"/>
                </a:solidFill>
                <a:ea typeface="+mn-lt"/>
                <a:cs typeface="+mn-lt"/>
              </a:rPr>
              <a:t>Es la sesión interna con enlaces sectoriales. Su diapositiva de 'Resumen ejecutivo de roles' se usa como contexto para entidades antes del formulario (qué área del DNP coordina cada parte del proceso). El contenido sobre Consulta Previa sí fue reemplazado por la guía oficial del DNP.</a:t>
            </a:r>
            <a:endParaRPr lang="es-ES" dirty="0"/>
          </a:p>
        </p:txBody>
      </p:sp>
      <p:pic>
        <p:nvPicPr>
          <p:cNvPr id="12" name="Imagen 11">
            <a:extLst>
              <a:ext uri="{FF2B5EF4-FFF2-40B4-BE49-F238E27FC236}">
                <a16:creationId xmlns:a16="http://schemas.microsoft.com/office/drawing/2014/main" id="{6CF3A871-D3A3-8704-F116-F4617E641978}"/>
              </a:ext>
            </a:extLst>
          </p:cNvPr>
          <p:cNvPicPr>
            <a:picLocks noChangeAspect="1"/>
          </p:cNvPicPr>
          <p:nvPr/>
        </p:nvPicPr>
        <p:blipFill>
          <a:blip r:embed="rId3"/>
          <a:srcRect l="35702" t="16637" r="36606" b="15791"/>
          <a:stretch>
            <a:fillRect/>
          </a:stretch>
        </p:blipFill>
        <p:spPr>
          <a:xfrm>
            <a:off x="908137" y="579615"/>
            <a:ext cx="809695" cy="1111347"/>
          </a:xfrm>
          <a:prstGeom prst="rect">
            <a:avLst/>
          </a:prstGeom>
        </p:spPr>
      </p:pic>
      <p:sp>
        <p:nvSpPr>
          <p:cNvPr id="4" name="CuadroTexto 3">
            <a:extLst>
              <a:ext uri="{FF2B5EF4-FFF2-40B4-BE49-F238E27FC236}">
                <a16:creationId xmlns:a16="http://schemas.microsoft.com/office/drawing/2014/main" id="{3FB252D6-ED81-1C83-32B4-DDD633F51C32}"/>
              </a:ext>
            </a:extLst>
          </p:cNvPr>
          <p:cNvSpPr txBox="1"/>
          <p:nvPr/>
        </p:nvSpPr>
        <p:spPr>
          <a:xfrm>
            <a:off x="7181813" y="3120000"/>
            <a:ext cx="3200000" cy="450000"/>
          </a:xfrm>
          <a:prstGeom prst="rect">
            <a:avLst/>
          </a:prstGeom>
          <a:noFill/>
        </p:spPr>
        <p:txBody>
          <a:bodyPr wrap="square" rtlCol="0">
            <a:normAutofit/>
          </a:bodyPr>
          <a:lstStyle/>
          <a:p>
            <a:r>
              <a:rPr lang="es-CO" sz="2000" b="1" dirty="0">
                <a:solidFill>
                  <a:srgbClr val="1B7A3D"/>
                </a:solidFill>
              </a:rPr>
              <a:t>Sí se usa</a:t>
            </a:r>
          </a:p>
        </p:txBody>
      </p:sp>
      <p:pic>
        <p:nvPicPr>
          <p:cNvPr id="5" name="Imagen 4">
            <a:extLst>
              <a:ext uri="{FF2B5EF4-FFF2-40B4-BE49-F238E27FC236}">
                <a16:creationId xmlns:a16="http://schemas.microsoft.com/office/drawing/2014/main" id="{A28CAF00-1707-D7B7-13C5-2EA0D1D48205}"/>
              </a:ext>
            </a:extLst>
          </p:cNvPr>
          <p:cNvPicPr>
            <a:picLocks noChangeAspect="1"/>
          </p:cNvPicPr>
          <p:nvPr/>
        </p:nvPicPr>
        <p:blipFill>
          <a:blip r:embed="rId4"/>
          <a:stretch>
            <a:fillRect/>
          </a:stretch>
        </p:blipFill>
        <p:spPr>
          <a:xfrm>
            <a:off x="903662" y="2225040"/>
            <a:ext cx="5660276" cy="2946400"/>
          </a:xfrm>
          <a:prstGeom prst="rect">
            <a:avLst/>
          </a:prstGeom>
        </p:spPr>
      </p:pic>
    </p:spTree>
    <p:extLst>
      <p:ext uri="{BB962C8B-B14F-4D97-AF65-F5344CB8AC3E}">
        <p14:creationId xmlns:p14="http://schemas.microsoft.com/office/powerpoint/2010/main" val="484881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AD53513A-AC5A-1BC0-2709-8ECE551EABD4}"/>
              </a:ext>
            </a:extLst>
          </p:cNvPr>
          <p:cNvSpPr/>
          <p:nvPr/>
        </p:nvSpPr>
        <p:spPr>
          <a:xfrm>
            <a:off x="0" y="0"/>
            <a:ext cx="12192000" cy="6858000"/>
          </a:xfrm>
          <a:prstGeom prst="rect">
            <a:avLst/>
          </a:prstGeom>
          <a:solidFill>
            <a:srgbClr val="F7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8" name="Imagen 7">
            <a:extLst>
              <a:ext uri="{FF2B5EF4-FFF2-40B4-BE49-F238E27FC236}">
                <a16:creationId xmlns:a16="http://schemas.microsoft.com/office/drawing/2014/main" id="{3D99633F-329E-DE22-E637-0806CD61AE29}"/>
              </a:ext>
            </a:extLst>
          </p:cNvPr>
          <p:cNvPicPr>
            <a:picLocks noChangeAspect="1"/>
          </p:cNvPicPr>
          <p:nvPr/>
        </p:nvPicPr>
        <p:blipFill>
          <a:blip r:embed="rId2"/>
          <a:srcRect b="42666"/>
          <a:stretch>
            <a:fillRect/>
          </a:stretch>
        </p:blipFill>
        <p:spPr>
          <a:xfrm>
            <a:off x="5163246" y="6365853"/>
            <a:ext cx="7225701" cy="492148"/>
          </a:xfrm>
          <a:prstGeom prst="rect">
            <a:avLst/>
          </a:prstGeom>
        </p:spPr>
      </p:pic>
      <p:sp>
        <p:nvSpPr>
          <p:cNvPr id="9" name="CuadroTexto 8">
            <a:extLst>
              <a:ext uri="{FF2B5EF4-FFF2-40B4-BE49-F238E27FC236}">
                <a16:creationId xmlns:a16="http://schemas.microsoft.com/office/drawing/2014/main" id="{517504D4-D8A4-3AD6-BC25-76345772177A}"/>
              </a:ext>
            </a:extLst>
          </p:cNvPr>
          <p:cNvSpPr txBox="1"/>
          <p:nvPr/>
        </p:nvSpPr>
        <p:spPr>
          <a:xfrm>
            <a:off x="7181813" y="2000000"/>
            <a:ext cx="4460000" cy="1000000"/>
          </a:xfrm>
          <a:prstGeom prst="rect">
            <a:avLst/>
          </a:prstGeom>
          <a:noFill/>
        </p:spPr>
        <p:txBody>
          <a:bodyPr wrap="square" rtlCol="0">
            <a:normAutofit fontScale="90000"/>
          </a:bodyPr>
          <a:lstStyle/>
          <a:p>
            <a:r>
              <a:rPr lang="es-CO" sz="2600" b="1" dirty="0">
                <a:solidFill>
                  <a:srgbClr val="2D2E5A"/>
                </a:solidFill>
              </a:rPr>
              <a:t>Manual general para la elaboración del PND</a:t>
            </a:r>
          </a:p>
        </p:txBody>
      </p:sp>
      <p:sp>
        <p:nvSpPr>
          <p:cNvPr id="10" name="CuadroTexto 9">
            <a:extLst>
              <a:ext uri="{FF2B5EF4-FFF2-40B4-BE49-F238E27FC236}">
                <a16:creationId xmlns:a16="http://schemas.microsoft.com/office/drawing/2014/main" id="{9A0D0726-058A-39F6-5E1E-A9CE2867A623}"/>
              </a:ext>
            </a:extLst>
          </p:cNvPr>
          <p:cNvSpPr txBox="1"/>
          <p:nvPr/>
        </p:nvSpPr>
        <p:spPr>
          <a:xfrm>
            <a:off x="7181813" y="3120000"/>
            <a:ext cx="3200000" cy="450000"/>
          </a:xfrm>
          <a:prstGeom prst="rect">
            <a:avLst/>
          </a:prstGeom>
          <a:noFill/>
        </p:spPr>
        <p:txBody>
          <a:bodyPr wrap="square" rtlCol="0">
            <a:normAutofit/>
          </a:bodyPr>
          <a:lstStyle/>
          <a:p>
            <a:r>
              <a:rPr lang="es-CO" sz="2000" b="1" dirty="0">
                <a:solidFill>
                  <a:srgbClr val="1B7A3D"/>
                </a:solidFill>
              </a:rPr>
              <a:t>Sí se usa</a:t>
            </a:r>
          </a:p>
        </p:txBody>
      </p:sp>
      <p:sp>
        <p:nvSpPr>
          <p:cNvPr id="11" name="CuadroTexto 10">
            <a:extLst>
              <a:ext uri="{FF2B5EF4-FFF2-40B4-BE49-F238E27FC236}">
                <a16:creationId xmlns:a16="http://schemas.microsoft.com/office/drawing/2014/main" id="{83432B55-5D87-910C-4C54-C30E0E803F70}"/>
              </a:ext>
            </a:extLst>
          </p:cNvPr>
          <p:cNvSpPr txBox="1"/>
          <p:nvPr/>
        </p:nvSpPr>
        <p:spPr>
          <a:xfrm>
            <a:off x="7181813" y="3700000"/>
            <a:ext cx="4460000" cy="2400000"/>
          </a:xfrm>
          <a:prstGeom prst="rect">
            <a:avLst/>
          </a:prstGeom>
          <a:noFill/>
        </p:spPr>
        <p:txBody>
          <a:bodyPr wrap="square" rtlCol="0">
            <a:normAutofit/>
          </a:bodyPr>
          <a:lstStyle/>
          <a:p>
            <a:r>
              <a:rPr lang="es-CO" sz="1500" dirty="0">
                <a:solidFill>
                  <a:srgbClr val="2D2E5A"/>
                </a:solidFill>
              </a:rPr>
              <a:t>Manual oficial del DNP. Es la fuente principal para explicar qué es el PND, sus fases y el cronograma de participación ciudadana.</a:t>
            </a:r>
          </a:p>
        </p:txBody>
      </p:sp>
      <p:pic>
        <p:nvPicPr>
          <p:cNvPr id="12" name="Imagen 11">
            <a:extLst>
              <a:ext uri="{FF2B5EF4-FFF2-40B4-BE49-F238E27FC236}">
                <a16:creationId xmlns:a16="http://schemas.microsoft.com/office/drawing/2014/main" id="{6CF3A871-D3A3-8704-F116-F4617E641978}"/>
              </a:ext>
            </a:extLst>
          </p:cNvPr>
          <p:cNvPicPr>
            <a:picLocks noChangeAspect="1"/>
          </p:cNvPicPr>
          <p:nvPr/>
        </p:nvPicPr>
        <p:blipFill>
          <a:blip r:embed="rId3"/>
          <a:srcRect l="35702" t="16637" r="36606" b="15791"/>
          <a:stretch>
            <a:fillRect/>
          </a:stretch>
        </p:blipFill>
        <p:spPr>
          <a:xfrm>
            <a:off x="908137" y="579615"/>
            <a:ext cx="809695" cy="1111347"/>
          </a:xfrm>
          <a:prstGeom prst="rect">
            <a:avLst/>
          </a:prstGeom>
        </p:spPr>
      </p:pic>
      <p:pic>
        <p:nvPicPr>
          <p:cNvPr id="2" name="Imagen 1">
            <a:extLst>
              <a:ext uri="{FF2B5EF4-FFF2-40B4-BE49-F238E27FC236}">
                <a16:creationId xmlns:a16="http://schemas.microsoft.com/office/drawing/2014/main" id="{84EFA3DA-CA74-C48F-7448-3506324D9022}"/>
              </a:ext>
            </a:extLst>
          </p:cNvPr>
          <p:cNvPicPr>
            <a:picLocks noChangeAspect="1"/>
          </p:cNvPicPr>
          <p:nvPr/>
        </p:nvPicPr>
        <p:blipFill>
          <a:blip r:embed="rId4"/>
          <a:stretch>
            <a:fillRect/>
          </a:stretch>
        </p:blipFill>
        <p:spPr>
          <a:xfrm>
            <a:off x="2577321" y="904240"/>
            <a:ext cx="3521997" cy="5059680"/>
          </a:xfrm>
          <a:prstGeom prst="rect">
            <a:avLst/>
          </a:prstGeom>
        </p:spPr>
      </p:pic>
    </p:spTree>
    <p:extLst>
      <p:ext uri="{BB962C8B-B14F-4D97-AF65-F5344CB8AC3E}">
        <p14:creationId xmlns:p14="http://schemas.microsoft.com/office/powerpoint/2010/main" val="484881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AD53513A-AC5A-1BC0-2709-8ECE551EABD4}"/>
              </a:ext>
            </a:extLst>
          </p:cNvPr>
          <p:cNvSpPr/>
          <p:nvPr/>
        </p:nvSpPr>
        <p:spPr>
          <a:xfrm>
            <a:off x="0" y="0"/>
            <a:ext cx="12192000" cy="6858000"/>
          </a:xfrm>
          <a:prstGeom prst="rect">
            <a:avLst/>
          </a:prstGeom>
          <a:solidFill>
            <a:srgbClr val="F7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8" name="Imagen 7">
            <a:extLst>
              <a:ext uri="{FF2B5EF4-FFF2-40B4-BE49-F238E27FC236}">
                <a16:creationId xmlns:a16="http://schemas.microsoft.com/office/drawing/2014/main" id="{3D99633F-329E-DE22-E637-0806CD61AE29}"/>
              </a:ext>
            </a:extLst>
          </p:cNvPr>
          <p:cNvPicPr>
            <a:picLocks noChangeAspect="1"/>
          </p:cNvPicPr>
          <p:nvPr/>
        </p:nvPicPr>
        <p:blipFill>
          <a:blip r:embed="rId2"/>
          <a:srcRect b="42666"/>
          <a:stretch>
            <a:fillRect/>
          </a:stretch>
        </p:blipFill>
        <p:spPr>
          <a:xfrm>
            <a:off x="5163246" y="6365853"/>
            <a:ext cx="7225701" cy="492148"/>
          </a:xfrm>
          <a:prstGeom prst="rect">
            <a:avLst/>
          </a:prstGeom>
        </p:spPr>
      </p:pic>
      <p:sp>
        <p:nvSpPr>
          <p:cNvPr id="9" name="CuadroTexto 8">
            <a:extLst>
              <a:ext uri="{FF2B5EF4-FFF2-40B4-BE49-F238E27FC236}">
                <a16:creationId xmlns:a16="http://schemas.microsoft.com/office/drawing/2014/main" id="{517504D4-D8A4-3AD6-BC25-76345772177A}"/>
              </a:ext>
            </a:extLst>
          </p:cNvPr>
          <p:cNvSpPr txBox="1"/>
          <p:nvPr/>
        </p:nvSpPr>
        <p:spPr>
          <a:xfrm>
            <a:off x="7181813" y="2000000"/>
            <a:ext cx="4460000" cy="1000000"/>
          </a:xfrm>
          <a:prstGeom prst="rect">
            <a:avLst/>
          </a:prstGeom>
          <a:noFill/>
        </p:spPr>
        <p:txBody>
          <a:bodyPr wrap="square" rtlCol="0">
            <a:normAutofit fontScale="90000"/>
          </a:bodyPr>
          <a:lstStyle/>
          <a:p>
            <a:r>
              <a:rPr lang="es-CO" sz="2600" b="1" dirty="0">
                <a:solidFill>
                  <a:srgbClr val="2D2E5A"/>
                </a:solidFill>
              </a:rPr>
              <a:t>Elaboración del Plan Nacional de Desarrollo</a:t>
            </a:r>
          </a:p>
        </p:txBody>
      </p:sp>
      <p:sp>
        <p:nvSpPr>
          <p:cNvPr id="11" name="CuadroTexto 10">
            <a:extLst>
              <a:ext uri="{FF2B5EF4-FFF2-40B4-BE49-F238E27FC236}">
                <a16:creationId xmlns:a16="http://schemas.microsoft.com/office/drawing/2014/main" id="{83432B55-5D87-910C-4C54-C30E0E803F70}"/>
              </a:ext>
            </a:extLst>
          </p:cNvPr>
          <p:cNvSpPr txBox="1"/>
          <p:nvPr/>
        </p:nvSpPr>
        <p:spPr>
          <a:xfrm>
            <a:off x="7181813" y="3700000"/>
            <a:ext cx="4460000" cy="2400000"/>
          </a:xfrm>
          <a:prstGeom prst="rect">
            <a:avLst/>
          </a:prstGeom>
          <a:noFill/>
        </p:spPr>
        <p:txBody>
          <a:bodyPr wrap="square" lIns="91440" tIns="45720" rIns="91440" bIns="45720" rtlCol="0" anchor="t">
            <a:normAutofit/>
          </a:bodyPr>
          <a:lstStyle/>
          <a:p>
            <a:r>
              <a:rPr lang="es-CO" sz="1500" dirty="0">
                <a:solidFill>
                  <a:srgbClr val="2D2E5A"/>
                </a:solidFill>
                <a:ea typeface="+mn-lt"/>
                <a:cs typeface="+mn-lt"/>
              </a:rPr>
              <a:t>Procedimiento interno de control de gestión del DNP: roles y flujograma. Se usa como contexto breve antes del formulario para entidades (alcaldías, gobernaciones), explicando qué área del DNP coordina cada parte del proceso (Director General, Direcciones Técnicas, Seguimiento y Evaluación, Consulta Previa, Oficina Jurídica).</a:t>
            </a:r>
            <a:endParaRPr lang="es-ES" dirty="0"/>
          </a:p>
        </p:txBody>
      </p:sp>
      <p:pic>
        <p:nvPicPr>
          <p:cNvPr id="12" name="Imagen 11">
            <a:extLst>
              <a:ext uri="{FF2B5EF4-FFF2-40B4-BE49-F238E27FC236}">
                <a16:creationId xmlns:a16="http://schemas.microsoft.com/office/drawing/2014/main" id="{6CF3A871-D3A3-8704-F116-F4617E641978}"/>
              </a:ext>
            </a:extLst>
          </p:cNvPr>
          <p:cNvPicPr>
            <a:picLocks noChangeAspect="1"/>
          </p:cNvPicPr>
          <p:nvPr/>
        </p:nvPicPr>
        <p:blipFill>
          <a:blip r:embed="rId3"/>
          <a:srcRect l="35702" t="16637" r="36606" b="15791"/>
          <a:stretch>
            <a:fillRect/>
          </a:stretch>
        </p:blipFill>
        <p:spPr>
          <a:xfrm>
            <a:off x="908137" y="579615"/>
            <a:ext cx="809695" cy="1111347"/>
          </a:xfrm>
          <a:prstGeom prst="rect">
            <a:avLst/>
          </a:prstGeom>
        </p:spPr>
      </p:pic>
      <p:sp>
        <p:nvSpPr>
          <p:cNvPr id="4" name="CuadroTexto 3">
            <a:extLst>
              <a:ext uri="{FF2B5EF4-FFF2-40B4-BE49-F238E27FC236}">
                <a16:creationId xmlns:a16="http://schemas.microsoft.com/office/drawing/2014/main" id="{F0C03896-73F2-1A4F-AFD0-4DD7495AB39C}"/>
              </a:ext>
            </a:extLst>
          </p:cNvPr>
          <p:cNvSpPr txBox="1"/>
          <p:nvPr/>
        </p:nvSpPr>
        <p:spPr>
          <a:xfrm>
            <a:off x="7181813" y="3120000"/>
            <a:ext cx="3200000" cy="450000"/>
          </a:xfrm>
          <a:prstGeom prst="rect">
            <a:avLst/>
          </a:prstGeom>
          <a:noFill/>
        </p:spPr>
        <p:txBody>
          <a:bodyPr wrap="square" rtlCol="0">
            <a:normAutofit/>
          </a:bodyPr>
          <a:lstStyle/>
          <a:p>
            <a:r>
              <a:rPr lang="es-CO" sz="2000" b="1" dirty="0">
                <a:solidFill>
                  <a:srgbClr val="1B7A3D"/>
                </a:solidFill>
              </a:rPr>
              <a:t>Sí se usa</a:t>
            </a:r>
          </a:p>
        </p:txBody>
      </p:sp>
      <p:pic>
        <p:nvPicPr>
          <p:cNvPr id="5" name="Imagen 4">
            <a:extLst>
              <a:ext uri="{FF2B5EF4-FFF2-40B4-BE49-F238E27FC236}">
                <a16:creationId xmlns:a16="http://schemas.microsoft.com/office/drawing/2014/main" id="{EB5A6362-A33A-7452-612F-8C9A7DBDDCF5}"/>
              </a:ext>
            </a:extLst>
          </p:cNvPr>
          <p:cNvPicPr>
            <a:picLocks noChangeAspect="1"/>
          </p:cNvPicPr>
          <p:nvPr/>
        </p:nvPicPr>
        <p:blipFill>
          <a:blip r:embed="rId4"/>
          <a:stretch>
            <a:fillRect/>
          </a:stretch>
        </p:blipFill>
        <p:spPr>
          <a:xfrm>
            <a:off x="1317950" y="1757680"/>
            <a:ext cx="5532740" cy="4338320"/>
          </a:xfrm>
          <a:prstGeom prst="rect">
            <a:avLst/>
          </a:prstGeom>
        </p:spPr>
      </p:pic>
    </p:spTree>
    <p:extLst>
      <p:ext uri="{BB962C8B-B14F-4D97-AF65-F5344CB8AC3E}">
        <p14:creationId xmlns:p14="http://schemas.microsoft.com/office/powerpoint/2010/main" val="484881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AD53513A-AC5A-1BC0-2709-8ECE551EABD4}"/>
              </a:ext>
            </a:extLst>
          </p:cNvPr>
          <p:cNvSpPr/>
          <p:nvPr/>
        </p:nvSpPr>
        <p:spPr>
          <a:xfrm>
            <a:off x="0" y="0"/>
            <a:ext cx="12192000" cy="6858000"/>
          </a:xfrm>
          <a:prstGeom prst="rect">
            <a:avLst/>
          </a:prstGeom>
          <a:solidFill>
            <a:srgbClr val="F7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8" name="Imagen 7">
            <a:extLst>
              <a:ext uri="{FF2B5EF4-FFF2-40B4-BE49-F238E27FC236}">
                <a16:creationId xmlns:a16="http://schemas.microsoft.com/office/drawing/2014/main" id="{3D99633F-329E-DE22-E637-0806CD61AE29}"/>
              </a:ext>
            </a:extLst>
          </p:cNvPr>
          <p:cNvPicPr>
            <a:picLocks noChangeAspect="1"/>
          </p:cNvPicPr>
          <p:nvPr/>
        </p:nvPicPr>
        <p:blipFill>
          <a:blip r:embed="rId2"/>
          <a:srcRect b="42666"/>
          <a:stretch>
            <a:fillRect/>
          </a:stretch>
        </p:blipFill>
        <p:spPr>
          <a:xfrm>
            <a:off x="5163246" y="6365853"/>
            <a:ext cx="7225701" cy="492148"/>
          </a:xfrm>
          <a:prstGeom prst="rect">
            <a:avLst/>
          </a:prstGeom>
        </p:spPr>
      </p:pic>
      <p:sp>
        <p:nvSpPr>
          <p:cNvPr id="9" name="CuadroTexto 8">
            <a:extLst>
              <a:ext uri="{FF2B5EF4-FFF2-40B4-BE49-F238E27FC236}">
                <a16:creationId xmlns:a16="http://schemas.microsoft.com/office/drawing/2014/main" id="{517504D4-D8A4-3AD6-BC25-76345772177A}"/>
              </a:ext>
            </a:extLst>
          </p:cNvPr>
          <p:cNvSpPr txBox="1"/>
          <p:nvPr/>
        </p:nvSpPr>
        <p:spPr>
          <a:xfrm>
            <a:off x="7181813" y="2000000"/>
            <a:ext cx="4460000" cy="1000000"/>
          </a:xfrm>
          <a:prstGeom prst="rect">
            <a:avLst/>
          </a:prstGeom>
          <a:noFill/>
        </p:spPr>
        <p:txBody>
          <a:bodyPr wrap="square" rtlCol="0">
            <a:normAutofit fontScale="90000"/>
          </a:bodyPr>
          <a:lstStyle/>
          <a:p>
            <a:r>
              <a:rPr lang="es-CO" sz="2600" b="1" dirty="0">
                <a:solidFill>
                  <a:srgbClr val="2D2E5A"/>
                </a:solidFill>
              </a:rPr>
              <a:t>Visión PND — Ejes Programáticos</a:t>
            </a:r>
          </a:p>
        </p:txBody>
      </p:sp>
      <p:sp>
        <p:nvSpPr>
          <p:cNvPr id="10" name="CuadroTexto 9">
            <a:extLst>
              <a:ext uri="{FF2B5EF4-FFF2-40B4-BE49-F238E27FC236}">
                <a16:creationId xmlns:a16="http://schemas.microsoft.com/office/drawing/2014/main" id="{9A0D0726-058A-39F6-5E1E-A9CE2867A623}"/>
              </a:ext>
            </a:extLst>
          </p:cNvPr>
          <p:cNvSpPr txBox="1"/>
          <p:nvPr/>
        </p:nvSpPr>
        <p:spPr>
          <a:xfrm>
            <a:off x="7181813" y="3120000"/>
            <a:ext cx="3200000" cy="450000"/>
          </a:xfrm>
          <a:prstGeom prst="rect">
            <a:avLst/>
          </a:prstGeom>
          <a:noFill/>
        </p:spPr>
        <p:txBody>
          <a:bodyPr wrap="square" rtlCol="0">
            <a:normAutofit/>
          </a:bodyPr>
          <a:lstStyle/>
          <a:p>
            <a:r>
              <a:rPr lang="es-CO" sz="2000" b="1" dirty="0">
                <a:solidFill>
                  <a:srgbClr val="1B7A3D"/>
                </a:solidFill>
              </a:rPr>
              <a:t>Sí se usa</a:t>
            </a:r>
          </a:p>
        </p:txBody>
      </p:sp>
      <p:sp>
        <p:nvSpPr>
          <p:cNvPr id="11" name="CuadroTexto 10">
            <a:extLst>
              <a:ext uri="{FF2B5EF4-FFF2-40B4-BE49-F238E27FC236}">
                <a16:creationId xmlns:a16="http://schemas.microsoft.com/office/drawing/2014/main" id="{83432B55-5D87-910C-4C54-C30E0E803F70}"/>
              </a:ext>
            </a:extLst>
          </p:cNvPr>
          <p:cNvSpPr txBox="1"/>
          <p:nvPr/>
        </p:nvSpPr>
        <p:spPr>
          <a:xfrm>
            <a:off x="7181813" y="3700000"/>
            <a:ext cx="4460000" cy="2400000"/>
          </a:xfrm>
          <a:prstGeom prst="rect">
            <a:avLst/>
          </a:prstGeom>
          <a:noFill/>
        </p:spPr>
        <p:txBody>
          <a:bodyPr wrap="square" lIns="91440" tIns="45720" rIns="91440" bIns="45720" rtlCol="0" anchor="t">
            <a:normAutofit/>
          </a:bodyPr>
          <a:lstStyle/>
          <a:p>
            <a:r>
              <a:rPr lang="es-CO" sz="1500" dirty="0">
                <a:solidFill>
                  <a:srgbClr val="2D2E5A"/>
                </a:solidFill>
              </a:rPr>
              <a:t>Es la base de la respuesta sobre los cinco ejes programáticos del PND. </a:t>
            </a:r>
          </a:p>
        </p:txBody>
      </p:sp>
      <p:pic>
        <p:nvPicPr>
          <p:cNvPr id="12" name="Imagen 11">
            <a:extLst>
              <a:ext uri="{FF2B5EF4-FFF2-40B4-BE49-F238E27FC236}">
                <a16:creationId xmlns:a16="http://schemas.microsoft.com/office/drawing/2014/main" id="{6CF3A871-D3A3-8704-F116-F4617E641978}"/>
              </a:ext>
            </a:extLst>
          </p:cNvPr>
          <p:cNvPicPr>
            <a:picLocks noChangeAspect="1"/>
          </p:cNvPicPr>
          <p:nvPr/>
        </p:nvPicPr>
        <p:blipFill>
          <a:blip r:embed="rId3"/>
          <a:srcRect l="35702" t="16637" r="36606" b="15791"/>
          <a:stretch>
            <a:fillRect/>
          </a:stretch>
        </p:blipFill>
        <p:spPr>
          <a:xfrm>
            <a:off x="908137" y="579615"/>
            <a:ext cx="809695" cy="1111347"/>
          </a:xfrm>
          <a:prstGeom prst="rect">
            <a:avLst/>
          </a:prstGeom>
        </p:spPr>
      </p:pic>
      <p:pic>
        <p:nvPicPr>
          <p:cNvPr id="2" name="Imagen 1">
            <a:extLst>
              <a:ext uri="{FF2B5EF4-FFF2-40B4-BE49-F238E27FC236}">
                <a16:creationId xmlns:a16="http://schemas.microsoft.com/office/drawing/2014/main" id="{10974463-6B8D-4CD7-3470-E8842038D6C9}"/>
              </a:ext>
            </a:extLst>
          </p:cNvPr>
          <p:cNvPicPr>
            <a:picLocks noChangeAspect="1"/>
          </p:cNvPicPr>
          <p:nvPr/>
        </p:nvPicPr>
        <p:blipFill>
          <a:blip r:embed="rId4"/>
          <a:stretch>
            <a:fillRect/>
          </a:stretch>
        </p:blipFill>
        <p:spPr>
          <a:xfrm>
            <a:off x="2395147" y="944880"/>
            <a:ext cx="3703467" cy="5151120"/>
          </a:xfrm>
          <a:prstGeom prst="rect">
            <a:avLst/>
          </a:prstGeom>
        </p:spPr>
      </p:pic>
    </p:spTree>
    <p:extLst>
      <p:ext uri="{BB962C8B-B14F-4D97-AF65-F5344CB8AC3E}">
        <p14:creationId xmlns:p14="http://schemas.microsoft.com/office/powerpoint/2010/main" val="484881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AD53513A-AC5A-1BC0-2709-8ECE551EABD4}"/>
              </a:ext>
            </a:extLst>
          </p:cNvPr>
          <p:cNvSpPr/>
          <p:nvPr/>
        </p:nvSpPr>
        <p:spPr>
          <a:xfrm>
            <a:off x="0" y="0"/>
            <a:ext cx="12192000" cy="6858000"/>
          </a:xfrm>
          <a:prstGeom prst="rect">
            <a:avLst/>
          </a:prstGeom>
          <a:solidFill>
            <a:srgbClr val="F7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8" name="Imagen 7">
            <a:extLst>
              <a:ext uri="{FF2B5EF4-FFF2-40B4-BE49-F238E27FC236}">
                <a16:creationId xmlns:a16="http://schemas.microsoft.com/office/drawing/2014/main" id="{3D99633F-329E-DE22-E637-0806CD61AE29}"/>
              </a:ext>
            </a:extLst>
          </p:cNvPr>
          <p:cNvPicPr>
            <a:picLocks noChangeAspect="1"/>
          </p:cNvPicPr>
          <p:nvPr/>
        </p:nvPicPr>
        <p:blipFill>
          <a:blip r:embed="rId2"/>
          <a:srcRect b="42666"/>
          <a:stretch>
            <a:fillRect/>
          </a:stretch>
        </p:blipFill>
        <p:spPr>
          <a:xfrm>
            <a:off x="5163246" y="6365853"/>
            <a:ext cx="7225701" cy="492148"/>
          </a:xfrm>
          <a:prstGeom prst="rect">
            <a:avLst/>
          </a:prstGeom>
        </p:spPr>
      </p:pic>
      <p:sp>
        <p:nvSpPr>
          <p:cNvPr id="9" name="CuadroTexto 8">
            <a:extLst>
              <a:ext uri="{FF2B5EF4-FFF2-40B4-BE49-F238E27FC236}">
                <a16:creationId xmlns:a16="http://schemas.microsoft.com/office/drawing/2014/main" id="{517504D4-D8A4-3AD6-BC25-76345772177A}"/>
              </a:ext>
            </a:extLst>
          </p:cNvPr>
          <p:cNvSpPr txBox="1"/>
          <p:nvPr/>
        </p:nvSpPr>
        <p:spPr>
          <a:xfrm>
            <a:off x="7181813" y="2000000"/>
            <a:ext cx="4460000" cy="1000000"/>
          </a:xfrm>
          <a:prstGeom prst="rect">
            <a:avLst/>
          </a:prstGeom>
          <a:noFill/>
        </p:spPr>
        <p:txBody>
          <a:bodyPr wrap="square" rtlCol="0">
            <a:normAutofit fontScale="90000"/>
          </a:bodyPr>
          <a:lstStyle/>
          <a:p>
            <a:r>
              <a:rPr lang="es-CO" sz="2600" b="1" dirty="0">
                <a:solidFill>
                  <a:srgbClr val="2D2E5A"/>
                </a:solidFill>
              </a:rPr>
              <a:t>Libro de la Verdad</a:t>
            </a:r>
          </a:p>
        </p:txBody>
      </p:sp>
      <p:sp>
        <p:nvSpPr>
          <p:cNvPr id="10" name="CuadroTexto 9">
            <a:extLst>
              <a:ext uri="{FF2B5EF4-FFF2-40B4-BE49-F238E27FC236}">
                <a16:creationId xmlns:a16="http://schemas.microsoft.com/office/drawing/2014/main" id="{9A0D0726-058A-39F6-5E1E-A9CE2867A623}"/>
              </a:ext>
            </a:extLst>
          </p:cNvPr>
          <p:cNvSpPr txBox="1"/>
          <p:nvPr/>
        </p:nvSpPr>
        <p:spPr>
          <a:xfrm>
            <a:off x="7181813" y="3120000"/>
            <a:ext cx="3200000" cy="450000"/>
          </a:xfrm>
          <a:prstGeom prst="rect">
            <a:avLst/>
          </a:prstGeom>
          <a:noFill/>
        </p:spPr>
        <p:txBody>
          <a:bodyPr wrap="square" rtlCol="0">
            <a:normAutofit/>
          </a:bodyPr>
          <a:lstStyle/>
          <a:p>
            <a:r>
              <a:rPr lang="es-CO" sz="2000" b="1" dirty="0">
                <a:solidFill>
                  <a:srgbClr val="AC5A2E"/>
                </a:solidFill>
              </a:rPr>
              <a:t>No se usa</a:t>
            </a:r>
          </a:p>
        </p:txBody>
      </p:sp>
      <p:sp>
        <p:nvSpPr>
          <p:cNvPr id="11" name="CuadroTexto 10">
            <a:extLst>
              <a:ext uri="{FF2B5EF4-FFF2-40B4-BE49-F238E27FC236}">
                <a16:creationId xmlns:a16="http://schemas.microsoft.com/office/drawing/2014/main" id="{83432B55-5D87-910C-4C54-C30E0E803F70}"/>
              </a:ext>
            </a:extLst>
          </p:cNvPr>
          <p:cNvSpPr txBox="1"/>
          <p:nvPr/>
        </p:nvSpPr>
        <p:spPr>
          <a:xfrm>
            <a:off x="7181813" y="3700000"/>
            <a:ext cx="4460000" cy="2400000"/>
          </a:xfrm>
          <a:prstGeom prst="rect">
            <a:avLst/>
          </a:prstGeom>
          <a:noFill/>
        </p:spPr>
        <p:txBody>
          <a:bodyPr wrap="square" rtlCol="0">
            <a:normAutofit/>
          </a:bodyPr>
          <a:lstStyle/>
          <a:p>
            <a:r>
              <a:rPr lang="es-CO" sz="1500" dirty="0">
                <a:solidFill>
                  <a:srgbClr val="2D2E5A"/>
                </a:solidFill>
              </a:rPr>
              <a:t>Informe de empalme anticorrupción. No tiene relación con formular proyectos ni el PND; incluirlo arriesga que el bot repita señalamientos políticos fuera de su propósito.</a:t>
            </a:r>
          </a:p>
        </p:txBody>
      </p:sp>
      <p:pic>
        <p:nvPicPr>
          <p:cNvPr id="12" name="Imagen 11">
            <a:extLst>
              <a:ext uri="{FF2B5EF4-FFF2-40B4-BE49-F238E27FC236}">
                <a16:creationId xmlns:a16="http://schemas.microsoft.com/office/drawing/2014/main" id="{6CF3A871-D3A3-8704-F116-F4617E641978}"/>
              </a:ext>
            </a:extLst>
          </p:cNvPr>
          <p:cNvPicPr>
            <a:picLocks noChangeAspect="1"/>
          </p:cNvPicPr>
          <p:nvPr/>
        </p:nvPicPr>
        <p:blipFill>
          <a:blip r:embed="rId3"/>
          <a:srcRect l="35702" t="16637" r="36606" b="15791"/>
          <a:stretch>
            <a:fillRect/>
          </a:stretch>
        </p:blipFill>
        <p:spPr>
          <a:xfrm>
            <a:off x="908137" y="579615"/>
            <a:ext cx="809695" cy="1111347"/>
          </a:xfrm>
          <a:prstGeom prst="rect">
            <a:avLst/>
          </a:prstGeom>
        </p:spPr>
      </p:pic>
      <p:pic>
        <p:nvPicPr>
          <p:cNvPr id="2" name="Imagen 1">
            <a:extLst>
              <a:ext uri="{FF2B5EF4-FFF2-40B4-BE49-F238E27FC236}">
                <a16:creationId xmlns:a16="http://schemas.microsoft.com/office/drawing/2014/main" id="{882F5B70-1D79-881D-694D-8485764C7935}"/>
              </a:ext>
            </a:extLst>
          </p:cNvPr>
          <p:cNvPicPr>
            <a:picLocks noChangeAspect="1"/>
          </p:cNvPicPr>
          <p:nvPr/>
        </p:nvPicPr>
        <p:blipFill>
          <a:blip r:embed="rId4"/>
          <a:stretch>
            <a:fillRect/>
          </a:stretch>
        </p:blipFill>
        <p:spPr>
          <a:xfrm>
            <a:off x="2702405" y="1219200"/>
            <a:ext cx="3393750" cy="4409440"/>
          </a:xfrm>
          <a:prstGeom prst="rect">
            <a:avLst/>
          </a:prstGeom>
        </p:spPr>
      </p:pic>
    </p:spTree>
    <p:extLst>
      <p:ext uri="{BB962C8B-B14F-4D97-AF65-F5344CB8AC3E}">
        <p14:creationId xmlns:p14="http://schemas.microsoft.com/office/powerpoint/2010/main" val="484881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F14F8D76-8F37-EF9B-F6FF-B7F750FF4F7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3386590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dlc_DocId xmlns="af7f7f6b-44e7-444a-90a4-d02bbf46acb6">DNPOI-103-3641</_dlc_DocId>
    <_dlc_DocIdUrl xmlns="af7f7f6b-44e7-444a-90a4-d02bbf46acb6">
      <Url>https://colaboracion.dnp.gov.co/CDT/_layouts/15/DocIdRedir.aspx?ID=DNPOI-103-3641</Url>
      <Description>DNPOI-103-3641</Description>
    </_dlc_DocIdUrl>
  </documentManagement>
</p:properties>
</file>

<file path=customXml/item4.xml><?xml version="1.0" encoding="utf-8"?>
<ct:contentTypeSchema xmlns:ct="http://schemas.microsoft.com/office/2006/metadata/contentType" xmlns:ma="http://schemas.microsoft.com/office/2006/metadata/properties/metaAttributes" ct:_="" ma:_="" ma:contentTypeName="Documento" ma:contentTypeID="0x01010086B723660F292B4C81F09F112E103058" ma:contentTypeVersion="0" ma:contentTypeDescription="Crear nuevo documento." ma:contentTypeScope="" ma:versionID="a4d789bf6a5338d244a2fda18ef1edce">
  <xsd:schema xmlns:xsd="http://www.w3.org/2001/XMLSchema" xmlns:xs="http://www.w3.org/2001/XMLSchema" xmlns:p="http://schemas.microsoft.com/office/2006/metadata/properties" xmlns:ns2="af7f7f6b-44e7-444a-90a4-d02bbf46acb6" targetNamespace="http://schemas.microsoft.com/office/2006/metadata/properties" ma:root="true" ma:fieldsID="22ef2a846aba4126b6d7d7a82477deea" ns2:_="">
    <xsd:import namespace="af7f7f6b-44e7-444a-90a4-d02bbf46acb6"/>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7f7f6b-44e7-444a-90a4-d02bbf46acb6" elementFormDefault="qualified">
    <xsd:import namespace="http://schemas.microsoft.com/office/2006/documentManagement/types"/>
    <xsd:import namespace="http://schemas.microsoft.com/office/infopath/2007/PartnerControls"/>
    <xsd:element name="_dlc_DocId" ma:index="8" nillable="true" ma:displayName="Valor de Id. de documento" ma:description="El valor del identificador de documento asignado a este elemento." ma:internalName="_dlc_DocId" ma:readOnly="true">
      <xsd:simpleType>
        <xsd:restriction base="dms:Text"/>
      </xsd:simpleType>
    </xsd:element>
    <xsd:element name="_dlc_DocIdUrl" ma:index="9" nillable="true" ma:displayName="Id. de documento" ma:description="Vínculo permanente a este documento."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169A3A-2393-4EB5-8B93-FCBB406C9F9F}">
  <ds:schemaRefs>
    <ds:schemaRef ds:uri="http://schemas.microsoft.com/sharepoint/events"/>
  </ds:schemaRefs>
</ds:datastoreItem>
</file>

<file path=customXml/itemProps2.xml><?xml version="1.0" encoding="utf-8"?>
<ds:datastoreItem xmlns:ds="http://schemas.openxmlformats.org/officeDocument/2006/customXml" ds:itemID="{AE550EE6-81FF-4FF9-80D3-7E4D892AB962}">
  <ds:schemaRefs>
    <ds:schemaRef ds:uri="http://schemas.microsoft.com/sharepoint/v3/contenttype/forms"/>
  </ds:schemaRefs>
</ds:datastoreItem>
</file>

<file path=customXml/itemProps3.xml><?xml version="1.0" encoding="utf-8"?>
<ds:datastoreItem xmlns:ds="http://schemas.openxmlformats.org/officeDocument/2006/customXml" ds:itemID="{108A0EC2-A5D7-45CB-8CA7-B3B88590195E}">
  <ds:schemaRefs>
    <ds:schemaRef ds:uri="http://schemas.microsoft.com/office/2006/metadata/properties"/>
    <ds:schemaRef ds:uri="http://schemas.microsoft.com/office/infopath/2007/PartnerControls"/>
    <ds:schemaRef ds:uri="af7f7f6b-44e7-444a-90a4-d02bbf46acb6"/>
  </ds:schemaRefs>
</ds:datastoreItem>
</file>

<file path=customXml/itemProps4.xml><?xml version="1.0" encoding="utf-8"?>
<ds:datastoreItem xmlns:ds="http://schemas.openxmlformats.org/officeDocument/2006/customXml" ds:itemID="{3CE68262-6D0A-4AAC-8F63-DC4D14255A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7f7f6b-44e7-444a-90a4-d02bbf46ac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58</TotalTime>
  <Words>325</Words>
  <Application>Microsoft Office PowerPoint</Application>
  <PresentationFormat>Panorámica</PresentationFormat>
  <Paragraphs>43</Paragraphs>
  <Slides>10</Slides>
  <Notes>0</Notes>
  <HiddenSlides>0</HiddenSlides>
  <MMClips>0</MMClips>
  <ScaleCrop>false</ScaleCrop>
  <HeadingPairs>
    <vt:vector size="4" baseType="variant">
      <vt:variant>
        <vt:lpstr>Tema</vt:lpstr>
      </vt:variant>
      <vt:variant>
        <vt:i4>1</vt:i4>
      </vt:variant>
      <vt:variant>
        <vt:lpstr>Títulos de diapositiva</vt:lpstr>
      </vt:variant>
      <vt:variant>
        <vt:i4>10</vt:i4>
      </vt:variant>
    </vt:vector>
  </HeadingPairs>
  <TitlesOfParts>
    <vt:vector size="11"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Vanessa Maria Vergara Dominguez</dc:creator>
  <cp:lastModifiedBy>Vanessa Maria Vergara Dominguez</cp:lastModifiedBy>
  <cp:revision>75</cp:revision>
  <dcterms:created xsi:type="dcterms:W3CDTF">2026-08-12T20:39:12Z</dcterms:created>
  <dcterms:modified xsi:type="dcterms:W3CDTF">2026-09-24T20:01:53Z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0x01010086B723660F292B4C81F09F112E103058</vt:lpwstr>
  </property>
  <property fmtid="{D5CDD505-2E9C-101B-9397-08002B2CF9AE}" pid="3" name="_dlc_DocIdItemGuid">
    <vt:lpwstr>42c3f472-615e-4ca1-a95b-8df02e8f3433</vt:lpwstr>
  </property>
</Properties>
</file>